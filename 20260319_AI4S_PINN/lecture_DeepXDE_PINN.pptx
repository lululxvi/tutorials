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8" r:id="rId2"/>
  </p:sldMasterIdLst>
  <p:notesMasterIdLst>
    <p:notesMasterId r:id="rId12"/>
  </p:notesMasterIdLst>
  <p:sldIdLst>
    <p:sldId id="960" r:id="rId3"/>
    <p:sldId id="269" r:id="rId4"/>
    <p:sldId id="282" r:id="rId5"/>
    <p:sldId id="271" r:id="rId6"/>
    <p:sldId id="272" r:id="rId7"/>
    <p:sldId id="262" r:id="rId8"/>
    <p:sldId id="263" r:id="rId9"/>
    <p:sldId id="26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5" autoAdjust="0"/>
    <p:restoredTop sz="95288" autoAdjust="0"/>
  </p:normalViewPr>
  <p:slideViewPr>
    <p:cSldViewPr snapToGrid="0" snapToObjects="1">
      <p:cViewPr varScale="1">
        <p:scale>
          <a:sx n="105" d="100"/>
          <a:sy n="105" d="100"/>
        </p:scale>
        <p:origin x="3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EB0C3-0118-2E4B-AE6B-6A3423B7F110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225BF-19BE-0B41-B66D-091B29C297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algorithms, and multiple backends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25BF-19BE-0B41-B66D-091B29C2979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CSG: Constructive solid geometry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25BF-19BE-0B41-B66D-091B29C2979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57162" y="4717542"/>
            <a:ext cx="6156794" cy="1136813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771610" y="4414747"/>
            <a:ext cx="4969933" cy="29950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534400" y="-60722"/>
            <a:ext cx="3714045" cy="6962743"/>
            <a:chOff x="12801600" y="-91084"/>
            <a:chExt cx="5571067" cy="10444115"/>
          </a:xfrm>
        </p:grpSpPr>
        <p:sp>
          <p:nvSpPr>
            <p:cNvPr id="21" name="Freeform: Shape 20"/>
            <p:cNvSpPr/>
            <p:nvPr userDrawn="1"/>
          </p:nvSpPr>
          <p:spPr>
            <a:xfrm>
              <a:off x="12801600" y="-80259"/>
              <a:ext cx="5571067" cy="10433290"/>
            </a:xfrm>
            <a:custGeom>
              <a:avLst/>
              <a:gdLst>
                <a:gd name="connsiteX0" fmla="*/ 2878667 w 5571067"/>
                <a:gd name="connsiteY0" fmla="*/ 16933 h 10498666"/>
                <a:gd name="connsiteX1" fmla="*/ 0 w 5571067"/>
                <a:gd name="connsiteY1" fmla="*/ 10498666 h 10498666"/>
                <a:gd name="connsiteX2" fmla="*/ 5571067 w 5571067"/>
                <a:gd name="connsiteY2" fmla="*/ 10498666 h 10498666"/>
                <a:gd name="connsiteX3" fmla="*/ 5571067 w 5571067"/>
                <a:gd name="connsiteY3" fmla="*/ 0 h 10498666"/>
                <a:gd name="connsiteX4" fmla="*/ 2878667 w 5571067"/>
                <a:gd name="connsiteY4" fmla="*/ 0 h 1049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067" h="10498666">
                  <a:moveTo>
                    <a:pt x="2878667" y="16933"/>
                  </a:moveTo>
                  <a:lnTo>
                    <a:pt x="0" y="10498666"/>
                  </a:lnTo>
                  <a:lnTo>
                    <a:pt x="5571067" y="10498666"/>
                  </a:lnTo>
                  <a:lnTo>
                    <a:pt x="5571067" y="0"/>
                  </a:lnTo>
                  <a:lnTo>
                    <a:pt x="2878667" y="0"/>
                  </a:lnTo>
                </a:path>
              </a:pathLst>
            </a:custGeom>
            <a:solidFill>
              <a:srgbClr val="3C3C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pic>
          <p:nvPicPr>
            <p:cNvPr id="22" name="Picture 21" descr="A picture containing text&#10;&#10;Description automatically generated"/>
            <p:cNvPicPr>
              <a:picLocks noChangeAspect="1"/>
            </p:cNvPicPr>
            <p:nvPr userDrawn="1"/>
          </p:nvPicPr>
          <p:blipFill rotWithShape="1">
            <a:blip r:embed="rId2"/>
            <a:srcRect l="27857" t="27857" r="25415" b="25415"/>
            <a:stretch>
              <a:fillRect/>
            </a:stretch>
          </p:blipFill>
          <p:spPr>
            <a:xfrm>
              <a:off x="14554986" y="6628183"/>
              <a:ext cx="2941162" cy="2949005"/>
            </a:xfrm>
            <a:prstGeom prst="rect">
              <a:avLst/>
            </a:prstGeom>
          </p:spPr>
        </p:pic>
        <p:cxnSp>
          <p:nvCxnSpPr>
            <p:cNvPr id="23" name="Straight Connector 22"/>
            <p:cNvCxnSpPr/>
            <p:nvPr userDrawn="1"/>
          </p:nvCxnSpPr>
          <p:spPr>
            <a:xfrm flipH="1">
              <a:off x="12801600" y="-91084"/>
              <a:ext cx="2862258" cy="10444115"/>
            </a:xfrm>
            <a:prstGeom prst="line">
              <a:avLst/>
            </a:prstGeom>
            <a:ln w="63500">
              <a:solidFill>
                <a:srgbClr val="EE8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98453" y="904160"/>
            <a:ext cx="4043387" cy="1017173"/>
            <a:chOff x="897679" y="1356239"/>
            <a:chExt cx="6065080" cy="152576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4534198" y="1410701"/>
              <a:ext cx="0" cy="141683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 descr="A picture containing text&#10;&#10;Description automatically generated"/>
            <p:cNvPicPr>
              <a:picLocks noChangeAspect="1"/>
            </p:cNvPicPr>
            <p:nvPr userDrawn="1"/>
          </p:nvPicPr>
          <p:blipFill rotWithShape="1">
            <a:blip r:embed="rId3"/>
            <a:srcRect r="6627"/>
            <a:stretch>
              <a:fillRect/>
            </a:stretch>
          </p:blipFill>
          <p:spPr>
            <a:xfrm>
              <a:off x="897679" y="1356239"/>
              <a:ext cx="3384181" cy="1525760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012210" y="1646268"/>
              <a:ext cx="1950549" cy="966703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8867" y="498443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51" y="2124531"/>
            <a:ext cx="11054080" cy="413213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100000"/>
              <a:buFontTx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0310" indent="0">
              <a:buClr>
                <a:schemeClr val="bg2"/>
              </a:buClr>
              <a:buSzPct val="100000"/>
              <a:buFontTx/>
              <a:buNone/>
              <a:defRPr sz="1220">
                <a:solidFill>
                  <a:schemeClr val="accent4"/>
                </a:solidFill>
              </a:defRPr>
            </a:lvl3pPr>
            <a:lvl4pPr marL="1972310" indent="-254000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0221" y="1160993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957" y="498286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819" y="2126608"/>
            <a:ext cx="11054080" cy="4132139"/>
          </a:xfrm>
          <a:prstGeom prst="rect">
            <a:avLst/>
          </a:prstGeom>
        </p:spPr>
        <p:txBody>
          <a:bodyPr/>
          <a:lstStyle>
            <a:lvl1pPr marL="255905" indent="-25590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8900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905" indent="-18859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33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7231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49819" y="1159931"/>
            <a:ext cx="11071905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 Brand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133" y="499004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b="1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227" y="2127490"/>
            <a:ext cx="11054080" cy="4132139"/>
          </a:xfrm>
          <a:prstGeom prst="rect">
            <a:avLst/>
          </a:prstGeom>
        </p:spPr>
        <p:txBody>
          <a:bodyPr/>
          <a:lstStyle>
            <a:lvl1pPr marL="255905" indent="-25590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8900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905" indent="-18859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33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7231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0552" y="1160287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745" y="496025"/>
            <a:ext cx="11080659" cy="660117"/>
          </a:xfrm>
          <a:prstGeom prst="rect">
            <a:avLst/>
          </a:prstGeom>
        </p:spPr>
        <p:txBody>
          <a:bodyPr/>
          <a:lstStyle>
            <a:lvl1pPr algn="l">
              <a:defRPr sz="320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7"/>
            <a:ext cx="11054080" cy="410417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accent4"/>
                </a:solidFill>
              </a:defRPr>
            </a:lvl1pPr>
            <a:lvl2pPr marL="635000" indent="0">
              <a:buClr>
                <a:schemeClr val="bg2"/>
              </a:buClr>
              <a:buSzPct val="100000"/>
              <a:buFontTx/>
              <a:buNone/>
              <a:defRPr sz="1335">
                <a:solidFill>
                  <a:schemeClr val="accent4"/>
                </a:solidFill>
              </a:defRPr>
            </a:lvl2pPr>
            <a:lvl3pPr marL="121031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972310" indent="-254000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1402" y="1160365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or 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246" y="2665701"/>
            <a:ext cx="7933508" cy="1462162"/>
          </a:xfrm>
          <a:prstGeom prst="rect">
            <a:avLst/>
          </a:prstGeom>
        </p:spPr>
        <p:txBody>
          <a:bodyPr anchor="t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6A97CD-3EAA-D249-991F-1CFDB4C418B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949CC-EFFF-0B4D-9C9C-3BDC12386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97CD-3EAA-D249-991F-1CFDB4C418B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949CC-EFFF-0B4D-9C9C-3BDC12386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57162" y="4717542"/>
            <a:ext cx="6156794" cy="1136813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771610" y="4414747"/>
            <a:ext cx="4969933" cy="29950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8534400" y="-60722"/>
            <a:ext cx="3714045" cy="6962743"/>
            <a:chOff x="12801600" y="-91084"/>
            <a:chExt cx="5571067" cy="10444115"/>
          </a:xfrm>
        </p:grpSpPr>
        <p:sp>
          <p:nvSpPr>
            <p:cNvPr id="21" name="Freeform: Shape 20"/>
            <p:cNvSpPr/>
            <p:nvPr userDrawn="1"/>
          </p:nvSpPr>
          <p:spPr>
            <a:xfrm>
              <a:off x="12801600" y="-80259"/>
              <a:ext cx="5571067" cy="10433290"/>
            </a:xfrm>
            <a:custGeom>
              <a:avLst/>
              <a:gdLst>
                <a:gd name="connsiteX0" fmla="*/ 2878667 w 5571067"/>
                <a:gd name="connsiteY0" fmla="*/ 16933 h 10498666"/>
                <a:gd name="connsiteX1" fmla="*/ 0 w 5571067"/>
                <a:gd name="connsiteY1" fmla="*/ 10498666 h 10498666"/>
                <a:gd name="connsiteX2" fmla="*/ 5571067 w 5571067"/>
                <a:gd name="connsiteY2" fmla="*/ 10498666 h 10498666"/>
                <a:gd name="connsiteX3" fmla="*/ 5571067 w 5571067"/>
                <a:gd name="connsiteY3" fmla="*/ 0 h 10498666"/>
                <a:gd name="connsiteX4" fmla="*/ 2878667 w 5571067"/>
                <a:gd name="connsiteY4" fmla="*/ 0 h 1049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067" h="10498666">
                  <a:moveTo>
                    <a:pt x="2878667" y="16933"/>
                  </a:moveTo>
                  <a:lnTo>
                    <a:pt x="0" y="10498666"/>
                  </a:lnTo>
                  <a:lnTo>
                    <a:pt x="5571067" y="10498666"/>
                  </a:lnTo>
                  <a:lnTo>
                    <a:pt x="5571067" y="0"/>
                  </a:lnTo>
                  <a:lnTo>
                    <a:pt x="2878667" y="0"/>
                  </a:lnTo>
                </a:path>
              </a:pathLst>
            </a:custGeom>
            <a:solidFill>
              <a:srgbClr val="3C3C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pic>
          <p:nvPicPr>
            <p:cNvPr id="22" name="Picture 21" descr="A picture containing text&#10;&#10;Description automatically generated"/>
            <p:cNvPicPr>
              <a:picLocks noChangeAspect="1"/>
            </p:cNvPicPr>
            <p:nvPr userDrawn="1"/>
          </p:nvPicPr>
          <p:blipFill rotWithShape="1">
            <a:blip r:embed="rId2"/>
            <a:srcRect l="27857" t="27857" r="25415" b="25415"/>
            <a:stretch>
              <a:fillRect/>
            </a:stretch>
          </p:blipFill>
          <p:spPr>
            <a:xfrm>
              <a:off x="14554986" y="6628183"/>
              <a:ext cx="2941162" cy="2949005"/>
            </a:xfrm>
            <a:prstGeom prst="rect">
              <a:avLst/>
            </a:prstGeom>
          </p:spPr>
        </p:pic>
        <p:cxnSp>
          <p:nvCxnSpPr>
            <p:cNvPr id="23" name="Straight Connector 22"/>
            <p:cNvCxnSpPr/>
            <p:nvPr userDrawn="1"/>
          </p:nvCxnSpPr>
          <p:spPr>
            <a:xfrm flipH="1">
              <a:off x="12801600" y="-91084"/>
              <a:ext cx="2862258" cy="10444115"/>
            </a:xfrm>
            <a:prstGeom prst="line">
              <a:avLst/>
            </a:prstGeom>
            <a:ln w="63500">
              <a:solidFill>
                <a:srgbClr val="EE8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598453" y="904160"/>
            <a:ext cx="4043387" cy="1017173"/>
            <a:chOff x="897679" y="1356239"/>
            <a:chExt cx="6065080" cy="1525760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4534198" y="1410701"/>
              <a:ext cx="0" cy="141683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 descr="A picture containing text&#10;&#10;Description automatically generated"/>
            <p:cNvPicPr>
              <a:picLocks noChangeAspect="1"/>
            </p:cNvPicPr>
            <p:nvPr userDrawn="1"/>
          </p:nvPicPr>
          <p:blipFill rotWithShape="1">
            <a:blip r:embed="rId3"/>
            <a:srcRect r="6627"/>
            <a:stretch>
              <a:fillRect/>
            </a:stretch>
          </p:blipFill>
          <p:spPr>
            <a:xfrm>
              <a:off x="897679" y="1356239"/>
              <a:ext cx="3384181" cy="1525760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012210" y="1646268"/>
              <a:ext cx="1950549" cy="966703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titl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8867" y="498443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51" y="2124531"/>
            <a:ext cx="11054080" cy="413213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100000"/>
              <a:buFontTx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0310" indent="0">
              <a:buClr>
                <a:schemeClr val="bg2"/>
              </a:buClr>
              <a:buSzPct val="100000"/>
              <a:buFontTx/>
              <a:buNone/>
              <a:defRPr sz="1220">
                <a:solidFill>
                  <a:schemeClr val="accent4"/>
                </a:solidFill>
              </a:defRPr>
            </a:lvl3pPr>
            <a:lvl4pPr marL="1972310" indent="-254000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0221" y="1160993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957" y="498286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819" y="2126608"/>
            <a:ext cx="11054080" cy="4132139"/>
          </a:xfrm>
          <a:prstGeom prst="rect">
            <a:avLst/>
          </a:prstGeom>
        </p:spPr>
        <p:txBody>
          <a:bodyPr/>
          <a:lstStyle>
            <a:lvl1pPr marL="255905" indent="-25590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8900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905" indent="-18859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33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7231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49819" y="1159931"/>
            <a:ext cx="11071905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 Brand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133" y="499004"/>
            <a:ext cx="11084560" cy="656590"/>
          </a:xfrm>
          <a:prstGeom prst="rect">
            <a:avLst/>
          </a:prstGeom>
        </p:spPr>
        <p:txBody>
          <a:bodyPr/>
          <a:lstStyle>
            <a:lvl1pPr algn="l">
              <a:defRPr sz="3200" b="1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227" y="2127490"/>
            <a:ext cx="11054080" cy="4132139"/>
          </a:xfrm>
          <a:prstGeom prst="rect">
            <a:avLst/>
          </a:prstGeom>
        </p:spPr>
        <p:txBody>
          <a:bodyPr/>
          <a:lstStyle>
            <a:lvl1pPr marL="255905" indent="-25590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86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8900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98905" indent="-188595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335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972310" indent="-254000">
              <a:lnSpc>
                <a:spcPct val="90000"/>
              </a:lnSpc>
              <a:spcBef>
                <a:spcPts val="335"/>
              </a:spcBef>
              <a:spcAft>
                <a:spcPts val="335"/>
              </a:spcAft>
              <a:buClr>
                <a:schemeClr val="bg2"/>
              </a:buClr>
              <a:buSzPct val="7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0552" y="1160287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745" y="496025"/>
            <a:ext cx="11080659" cy="660117"/>
          </a:xfrm>
          <a:prstGeom prst="rect">
            <a:avLst/>
          </a:prstGeom>
        </p:spPr>
        <p:txBody>
          <a:bodyPr/>
          <a:lstStyle>
            <a:lvl1pPr algn="l">
              <a:defRPr sz="320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960" y="2336707"/>
            <a:ext cx="11054080" cy="4104175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accent4"/>
                </a:solidFill>
              </a:defRPr>
            </a:lvl1pPr>
            <a:lvl2pPr marL="635000" indent="0">
              <a:buClr>
                <a:schemeClr val="bg2"/>
              </a:buClr>
              <a:buSzPct val="100000"/>
              <a:buFontTx/>
              <a:buNone/>
              <a:defRPr sz="1335">
                <a:solidFill>
                  <a:schemeClr val="accent4"/>
                </a:solidFill>
              </a:defRPr>
            </a:lvl2pPr>
            <a:lvl3pPr marL="1210310" indent="0">
              <a:buClr>
                <a:schemeClr val="bg2"/>
              </a:buClr>
              <a:buSzPct val="100000"/>
              <a:buFontTx/>
              <a:buNone/>
              <a:defRPr sz="1200">
                <a:solidFill>
                  <a:schemeClr val="accent4"/>
                </a:solidFill>
              </a:defRPr>
            </a:lvl3pPr>
            <a:lvl4pPr marL="1972310" indent="-254000"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</a:defRPr>
            </a:lvl4pPr>
            <a:lvl5pPr marL="2353310" indent="-2540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1402" y="1160365"/>
            <a:ext cx="11084560" cy="583848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2000" b="0">
                <a:solidFill>
                  <a:srgbClr val="6F6F6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3500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210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718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2099310" indent="0" algn="ctr">
              <a:buFontTx/>
              <a:buNone/>
              <a:defRPr sz="311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or 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246" y="2665701"/>
            <a:ext cx="7933508" cy="1462162"/>
          </a:xfrm>
          <a:prstGeom prst="rect">
            <a:avLst/>
          </a:prstGeom>
        </p:spPr>
        <p:txBody>
          <a:bodyPr anchor="t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F76A97CD-3EAA-D249-991F-1CFDB4C418B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050949CC-EFFF-0B4D-9C9C-3BDC12386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6A97CD-3EAA-D249-991F-1CFDB4C418B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949CC-EFFF-0B4D-9C9C-3BDC12386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97CD-3EAA-D249-991F-1CFDB4C418B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949CC-EFFF-0B4D-9C9C-3BDC12386D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6727" y="499398"/>
            <a:ext cx="11081461" cy="656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6134" y="2123431"/>
            <a:ext cx="11054368" cy="41491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5832" y="6580414"/>
            <a:ext cx="35669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fld id="{9EF62655-870B-4C06-BC3D-C67D37BAE36D}" type="slidenum">
              <a:rPr lang="en-US" sz="8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anose="020B0600070205080204" pitchFamily="34" charset="-128"/>
                <a:cs typeface="+mn-cs"/>
              </a:rPr>
              <a:t>‹#›</a:t>
            </a:fld>
            <a:r>
              <a:rPr lang="en-US" sz="800" cap="none" baseline="0" dirty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800" cap="none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cap="none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865" b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63600" indent="-22860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Tx/>
        <a:buSzPct val="100000"/>
        <a:buFont typeface="Wingdings" panose="05000000000000000000" pitchFamily="2" charset="2"/>
        <a:buChar char="q"/>
        <a:defRPr sz="1600" b="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21031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220" b="0">
          <a:solidFill>
            <a:schemeClr val="accent4"/>
          </a:solidFill>
          <a:latin typeface="Trebuchet MS" panose="020B0603020202020204" pitchFamily="34" charset="0"/>
        </a:defRPr>
      </a:lvl3pPr>
      <a:lvl4pPr marL="1972310" indent="-254000" algn="l" rtl="0" eaLnBrk="1" fontAlgn="base" hangingPunct="1">
        <a:spcBef>
          <a:spcPct val="20000"/>
        </a:spcBef>
        <a:spcAft>
          <a:spcPct val="0"/>
        </a:spcAft>
        <a:buChar char="–"/>
        <a:defRPr sz="2220">
          <a:solidFill>
            <a:schemeClr val="bg1"/>
          </a:solidFill>
          <a:latin typeface="+mn-lt"/>
        </a:defRPr>
      </a:lvl4pPr>
      <a:lvl5pPr marL="2353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5pPr>
      <a:lvl6pPr marL="2861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6pPr>
      <a:lvl7pPr marL="3369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7pPr>
      <a:lvl8pPr marL="3877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8pPr>
      <a:lvl9pPr marL="4385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0186345" y="6346054"/>
            <a:ext cx="1739549" cy="437609"/>
            <a:chOff x="897679" y="1356239"/>
            <a:chExt cx="6065080" cy="152576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4534198" y="1410701"/>
              <a:ext cx="0" cy="1416831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A picture containing text&#10;&#10;Description automatically generated"/>
            <p:cNvPicPr>
              <a:picLocks noChangeAspect="1"/>
            </p:cNvPicPr>
            <p:nvPr userDrawn="1"/>
          </p:nvPicPr>
          <p:blipFill rotWithShape="1">
            <a:blip r:embed="rId11"/>
            <a:srcRect r="6627"/>
            <a:stretch>
              <a:fillRect/>
            </a:stretch>
          </p:blipFill>
          <p:spPr>
            <a:xfrm>
              <a:off x="897679" y="1356239"/>
              <a:ext cx="3384181" cy="1525760"/>
            </a:xfrm>
            <a:prstGeom prst="rect">
              <a:avLst/>
            </a:prstGeom>
          </p:spPr>
        </p:pic>
        <p:pic>
          <p:nvPicPr>
            <p:cNvPr id="13" name="Picture 12" descr="Logo&#10;&#10;Description automatically generated with medium confidence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5012210" y="1646269"/>
              <a:ext cx="1950549" cy="966702"/>
            </a:xfrm>
            <a:prstGeom prst="rect">
              <a:avLst/>
            </a:prstGeom>
          </p:spPr>
        </p:pic>
      </p:grp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6727" y="499398"/>
            <a:ext cx="11081461" cy="656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6134" y="2123431"/>
            <a:ext cx="11054368" cy="41491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5832" y="6580414"/>
            <a:ext cx="35669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sz="4400" cap="all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fld id="{9EF62655-870B-4C06-BC3D-C67D37BAE36D}" type="slidenum">
              <a:rPr lang="en-US" sz="800" kern="1200" smtClean="0">
                <a:solidFill>
                  <a:schemeClr val="accent5"/>
                </a:solidFill>
                <a:latin typeface="Trebuchet MS" panose="020B0603020202020204" pitchFamily="34" charset="0"/>
                <a:ea typeface="MS PGothic" panose="020B0600070205080204" pitchFamily="34" charset="-128"/>
                <a:cs typeface="+mn-cs"/>
              </a:rPr>
              <a:t>‹#›</a:t>
            </a:fld>
            <a:r>
              <a:rPr lang="en-US" sz="800" cap="none" baseline="0" dirty="0">
                <a:solidFill>
                  <a:schemeClr val="accent5"/>
                </a:solidFill>
                <a:latin typeface="Trebuchet MS" panose="020B0603020202020204" pitchFamily="34" charset="0"/>
              </a:rPr>
              <a:t> </a:t>
            </a:r>
            <a:endParaRPr lang="en-US" sz="800" cap="none" dirty="0">
              <a:solidFill>
                <a:schemeClr val="accent5"/>
              </a:solidFill>
              <a:latin typeface="Trebuchet MS" panose="020B060302020202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cap="none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5pPr>
      <a:lvl6pPr marL="508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6pPr>
      <a:lvl7pPr marL="1016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7pPr>
      <a:lvl8pPr marL="1524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8pPr>
      <a:lvl9pPr marL="2032000" algn="l" rtl="0" eaLnBrk="1" fontAlgn="base" hangingPunct="1">
        <a:spcBef>
          <a:spcPct val="0"/>
        </a:spcBef>
        <a:spcAft>
          <a:spcPct val="0"/>
        </a:spcAft>
        <a:defRPr sz="3555" b="1">
          <a:solidFill>
            <a:srgbClr val="73B900"/>
          </a:solidFill>
          <a:latin typeface="Arial" panose="020B0604020202020204" pitchFamily="34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865" b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63600" indent="-22860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Tx/>
        <a:buSzPct val="100000"/>
        <a:buFont typeface="Wingdings" panose="05000000000000000000" pitchFamily="2" charset="2"/>
        <a:buChar char="q"/>
        <a:defRPr sz="1600" b="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210310" indent="0" algn="l" rtl="0" eaLnBrk="1" fontAlgn="base" hangingPunct="1">
        <a:lnSpc>
          <a:spcPct val="90000"/>
        </a:lnSpc>
        <a:spcBef>
          <a:spcPts val="1000"/>
        </a:spcBef>
        <a:spcAft>
          <a:spcPts val="1000"/>
        </a:spcAft>
        <a:buClr>
          <a:schemeClr val="bg2"/>
        </a:buClr>
        <a:buSzPct val="100000"/>
        <a:buFontTx/>
        <a:buNone/>
        <a:defRPr sz="1220" b="0">
          <a:solidFill>
            <a:schemeClr val="accent4"/>
          </a:solidFill>
          <a:latin typeface="Trebuchet MS" panose="020B0603020202020204" pitchFamily="34" charset="0"/>
        </a:defRPr>
      </a:lvl3pPr>
      <a:lvl4pPr marL="1972310" indent="-254000" algn="l" rtl="0" eaLnBrk="1" fontAlgn="base" hangingPunct="1">
        <a:spcBef>
          <a:spcPct val="20000"/>
        </a:spcBef>
        <a:spcAft>
          <a:spcPct val="0"/>
        </a:spcAft>
        <a:buChar char="–"/>
        <a:defRPr sz="2220">
          <a:solidFill>
            <a:schemeClr val="bg1"/>
          </a:solidFill>
          <a:latin typeface="+mn-lt"/>
        </a:defRPr>
      </a:lvl4pPr>
      <a:lvl5pPr marL="2353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5pPr>
      <a:lvl6pPr marL="2861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6pPr>
      <a:lvl7pPr marL="3369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7pPr>
      <a:lvl8pPr marL="3877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8pPr>
      <a:lvl9pPr marL="4385310" indent="-254000" algn="l" rtl="0" eaLnBrk="1" fontAlgn="base" hangingPunct="1">
        <a:spcBef>
          <a:spcPct val="20000"/>
        </a:spcBef>
        <a:spcAft>
          <a:spcPct val="0"/>
        </a:spcAft>
        <a:buChar char="»"/>
        <a:defRPr sz="222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2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0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8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6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4000" algn="l" defTabSz="10160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hyperlink" Target="https://deepxde.readthedocs.io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hyperlink" Target="https://github.com/lululxvi/deepxd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9.emf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7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1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5.png"/><Relationship Id="rId5" Type="http://schemas.openxmlformats.org/officeDocument/2006/relationships/tags" Target="../tags/tag11.xml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tags" Target="../tags/tag10.xml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image" Target="../media/image23.png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image" Target="../media/image22.png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image" Target="../media/image25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image" Target="../media/image21.png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image" Target="../media/image20.png"/><Relationship Id="rId28" Type="http://schemas.openxmlformats.org/officeDocument/2006/relationships/image" Target="../media/image24.png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14.png"/><Relationship Id="rId30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2595"/>
            <a:ext cx="12192000" cy="1054735"/>
          </a:xfrm>
        </p:spPr>
        <p:txBody>
          <a:bodyPr/>
          <a:lstStyle/>
          <a:p>
            <a:pPr algn="ctr"/>
            <a:r>
              <a:rPr lang="en-US" altLang="en-US" sz="3600" dirty="0" err="1"/>
              <a:t>DeepXDE</a:t>
            </a:r>
            <a:r>
              <a:rPr lang="en-US" altLang="en-US" sz="3600" dirty="0"/>
              <a:t>:</a:t>
            </a:r>
            <a:br>
              <a:rPr lang="en-US" altLang="en-US" sz="3600" dirty="0"/>
            </a:br>
            <a:r>
              <a:rPr lang="en-US" altLang="en-US" dirty="0"/>
              <a:t>A deep learning library for solving differential equations</a:t>
            </a:r>
            <a:endParaRPr lang="en-US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3111769" y="3737471"/>
            <a:ext cx="59683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 </a:t>
            </a:r>
            <a:r>
              <a:rPr lang="en-US" sz="24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</a:t>
            </a:r>
            <a:endParaRPr lang="en-US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Statistics and Data Science</a:t>
            </a:r>
          </a:p>
          <a:p>
            <a:pPr algn="ctr"/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Yale University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780" y="5921375"/>
            <a:ext cx="1819275" cy="700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70226" y="1133856"/>
            <a:ext cx="6022848" cy="4080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5678" y="218660"/>
            <a:ext cx="45801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DeepXDE</a:t>
            </a:r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Capabilities</a:t>
            </a:r>
          </a:p>
        </p:txBody>
      </p:sp>
      <p:pic>
        <p:nvPicPr>
          <p:cNvPr id="10" name="Picture 9" descr="A picture containing application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736" y="4960514"/>
            <a:ext cx="7357247" cy="1744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4408" y="4346570"/>
            <a:ext cx="4780155" cy="5355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</a:rPr>
              <a:t>GitHub: </a:t>
            </a: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hlinkClick r:id="rId6"/>
              </a:rPr>
              <a:t>https://github.com/lululxvi/deepxde</a:t>
            </a: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</a:rPr>
              <a:t>Documentation: </a:t>
            </a: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  <a:hlinkClick r:id="rId7"/>
              </a:rPr>
              <a:t>https://deepxde.readthedocs.io</a:t>
            </a:r>
            <a:r>
              <a:rPr lang="en-US" sz="160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7999" y="1043560"/>
            <a:ext cx="4936564" cy="7571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Lu, Meng, Mao, </a:t>
            </a:r>
            <a:r>
              <a:rPr lang="en-US" sz="1600" dirty="0" err="1">
                <a:solidFill>
                  <a:schemeClr val="bg1"/>
                </a:solidFill>
              </a:rPr>
              <a:t>Karniadakis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en-US" sz="1600" dirty="0" err="1">
                <a:solidFill>
                  <a:schemeClr val="bg1"/>
                </a:solidFill>
              </a:rPr>
              <a:t>DeepXDE</a:t>
            </a:r>
            <a:r>
              <a:rPr lang="en-US" sz="1600" dirty="0">
                <a:solidFill>
                  <a:schemeClr val="bg1"/>
                </a:solidFill>
              </a:rPr>
              <a:t>: A deep learning library for solving differential equations. </a:t>
            </a:r>
            <a:r>
              <a:rPr lang="en-US" sz="1600" i="1" dirty="0">
                <a:solidFill>
                  <a:schemeClr val="bg1"/>
                </a:solidFill>
              </a:rPr>
              <a:t>SIAM Review</a:t>
            </a:r>
            <a:r>
              <a:rPr lang="en-US" sz="1600" dirty="0">
                <a:solidFill>
                  <a:schemeClr val="bg1"/>
                </a:solidFill>
              </a:rPr>
              <a:t>, 2021.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22207" y="391656"/>
            <a:ext cx="71711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for PINNs using </a:t>
            </a:r>
            <a:r>
              <a:rPr lang="en-US" sz="32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DeepXDE</a:t>
            </a:r>
            <a:endParaRPr 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5546" y="1272746"/>
            <a:ext cx="10033686" cy="4868561"/>
            <a:chOff x="815546" y="1272746"/>
            <a:chExt cx="10033686" cy="4868561"/>
          </a:xfrm>
        </p:grpSpPr>
        <p:sp>
          <p:nvSpPr>
            <p:cNvPr id="2" name="Rounded Rectangle 1"/>
            <p:cNvSpPr/>
            <p:nvPr/>
          </p:nvSpPr>
          <p:spPr>
            <a:xfrm>
              <a:off x="815546" y="1272746"/>
              <a:ext cx="10033686" cy="486856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198605" y="1978068"/>
              <a:ext cx="6981568" cy="2878137"/>
            </a:xfrm>
            <a:prstGeom prst="roundRect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578114" y="2205679"/>
              <a:ext cx="1754660" cy="144574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</a:rPr>
                <a:t>NN</a:t>
              </a:r>
            </a:p>
            <a:p>
              <a:r>
                <a:rPr lang="en-US" sz="1400" dirty="0" err="1">
                  <a:solidFill>
                    <a:sysClr val="windowText" lastClr="000000"/>
                  </a:solidFill>
                </a:rPr>
                <a:t>dde.nn.FNN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r>
                <a:rPr lang="en-US" sz="1400" dirty="0" err="1">
                  <a:solidFill>
                    <a:sysClr val="windowText" lastClr="000000"/>
                  </a:solidFill>
                </a:rPr>
                <a:t>dde.nn.PFNN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r>
                <a:rPr lang="en-US" sz="1400" dirty="0" err="1">
                  <a:solidFill>
                    <a:sysClr val="windowText" lastClr="000000"/>
                  </a:solidFill>
                </a:rPr>
                <a:t>dde.nn.ResNet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r>
                <a:rPr lang="en-US" sz="1400" dirty="0" err="1">
                  <a:solidFill>
                    <a:sysClr val="windowText" lastClr="000000"/>
                  </a:solidFill>
                </a:rPr>
                <a:t>dde.nn.MsFFN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r>
                <a:rPr lang="en-US" sz="1400" dirty="0" err="1">
                  <a:solidFill>
                    <a:sysClr val="windowText" lastClr="000000"/>
                  </a:solidFill>
                </a:rPr>
                <a:t>dde.nn.STMsFFN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1930742" y="4139512"/>
              <a:ext cx="5517293" cy="5869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dde.data.PDE</a:t>
              </a:r>
              <a:r>
                <a:rPr lang="en-US" sz="1400" dirty="0">
                  <a:solidFill>
                    <a:schemeClr val="bg1"/>
                  </a:solidFill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</a:rPr>
                <a:t>dde.data.TimePDE</a:t>
              </a:r>
              <a:r>
                <a:rPr lang="en-US" sz="1400" dirty="0">
                  <a:solidFill>
                    <a:schemeClr val="bg1"/>
                  </a:solidFill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</a:rPr>
                <a:t>dde.data.IDE</a:t>
              </a:r>
              <a:endParaRPr lang="en-US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dde.data.FPDE</a:t>
              </a:r>
              <a:r>
                <a:rPr lang="en-US" sz="1400" dirty="0">
                  <a:solidFill>
                    <a:schemeClr val="bg1"/>
                  </a:solidFill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</a:rPr>
                <a:t>dde.data.TimeFPDE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388177" y="4040658"/>
              <a:ext cx="2351903" cy="98854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Model</a:t>
              </a: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dde.Model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383957" y="2471351"/>
              <a:ext cx="1691192" cy="1180069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</a:rPr>
                <a:t>Geometry</a:t>
              </a:r>
            </a:p>
            <a:p>
              <a:pPr algn="ctr"/>
              <a:r>
                <a:rPr lang="en-US" sz="1400" dirty="0" err="1">
                  <a:solidFill>
                    <a:sysClr val="windowText" lastClr="000000"/>
                  </a:solidFill>
                </a:rPr>
                <a:t>dde.geometry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23430" y="2471351"/>
              <a:ext cx="2954948" cy="1180069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</a:rPr>
                <a:t>Forward/Inverse</a:t>
              </a:r>
            </a:p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</a:rPr>
                <a:t>ODE/PDE/IDE/</a:t>
              </a:r>
              <a:r>
                <a:rPr lang="en-US" sz="1400" b="1" dirty="0" err="1">
                  <a:solidFill>
                    <a:sysClr val="windowText" lastClr="000000"/>
                  </a:solidFill>
                </a:rPr>
                <a:t>fPDE</a:t>
              </a:r>
              <a:endParaRPr lang="en-US" sz="14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 err="1">
                  <a:solidFill>
                    <a:sysClr val="windowText" lastClr="000000"/>
                  </a:solidFill>
                </a:rPr>
                <a:t>dde.grad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352215" y="2471350"/>
              <a:ext cx="1691192" cy="1180069"/>
            </a:xfrm>
            <a:prstGeom prst="round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ysClr val="windowText" lastClr="000000"/>
                  </a:solidFill>
                </a:rPr>
                <a:t>IC/BC/Data</a:t>
              </a:r>
            </a:p>
            <a:p>
              <a:pPr algn="ctr"/>
              <a:r>
                <a:rPr lang="en-US" sz="1400" dirty="0" err="1">
                  <a:solidFill>
                    <a:sysClr val="windowText" lastClr="000000"/>
                  </a:solidFill>
                </a:rPr>
                <a:t>dde.icbc</a:t>
              </a:r>
              <a:endParaRPr lang="en-US" sz="1400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51920" y="5029199"/>
              <a:ext cx="1902940" cy="10008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Visualization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92378" y="5016842"/>
              <a:ext cx="1902940" cy="10008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Prediction</a:t>
              </a: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Model.predict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46341" y="5016842"/>
              <a:ext cx="1902940" cy="10008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Solve</a:t>
              </a: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Model.compile</a:t>
              </a:r>
              <a:endParaRPr lang="en-US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dirty="0" err="1">
                  <a:solidFill>
                    <a:schemeClr val="bg1"/>
                  </a:solidFill>
                </a:rPr>
                <a:t>Model.train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Straight Connector 15"/>
            <p:cNvCxnSpPr>
              <a:endCxn id="5" idx="0"/>
            </p:cNvCxnSpPr>
            <p:nvPr/>
          </p:nvCxnSpPr>
          <p:spPr>
            <a:xfrm>
              <a:off x="2261286" y="3651419"/>
              <a:ext cx="2428103" cy="488093"/>
            </a:xfrm>
            <a:prstGeom prst="line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endCxn id="5" idx="0"/>
            </p:cNvCxnSpPr>
            <p:nvPr/>
          </p:nvCxnSpPr>
          <p:spPr>
            <a:xfrm flipH="1">
              <a:off x="4689389" y="3651419"/>
              <a:ext cx="2514600" cy="488093"/>
            </a:xfrm>
            <a:prstGeom prst="line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689389" y="3651416"/>
              <a:ext cx="0" cy="488093"/>
            </a:xfrm>
            <a:prstGeom prst="line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5" idx="3"/>
            </p:cNvCxnSpPr>
            <p:nvPr/>
          </p:nvCxnSpPr>
          <p:spPr>
            <a:xfrm>
              <a:off x="7448035" y="4432984"/>
              <a:ext cx="940142" cy="15448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9477632" y="3651416"/>
              <a:ext cx="0" cy="389242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9" idx="2"/>
            </p:cNvCxnSpPr>
            <p:nvPr/>
          </p:nvCxnSpPr>
          <p:spPr>
            <a:xfrm rot="5400000">
              <a:off x="8594124" y="4615248"/>
              <a:ext cx="556055" cy="1383956"/>
            </a:xfrm>
            <a:prstGeom prst="bentConnector2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5795318" y="5523470"/>
              <a:ext cx="451023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3354860" y="5517291"/>
              <a:ext cx="537518" cy="6179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331785" y="1440741"/>
              <a:ext cx="5024132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000" b="1" u="sng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Physics-Informed Neural Network (PINN)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578114" y="1816440"/>
              <a:ext cx="1611340" cy="2862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Choose a network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760587" y="2043886"/>
              <a:ext cx="4166526" cy="3139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rebuchet MS" panose="020B0603020202020204" pitchFamily="34" charset="0"/>
                </a:rPr>
                <a:t>Specify the problem using build-in modules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130" y="1267254"/>
            <a:ext cx="8617306" cy="39111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2207" y="391656"/>
            <a:ext cx="71711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for PINNs using </a:t>
            </a:r>
            <a:r>
              <a:rPr lang="en-US" sz="32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DeepXDE</a:t>
            </a:r>
            <a:endParaRPr 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98843" y="1338137"/>
            <a:ext cx="6465012" cy="2004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8984" y="420130"/>
            <a:ext cx="6880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domains using </a:t>
            </a:r>
            <a:r>
              <a:rPr lang="en-US" sz="32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DeepXDE</a:t>
            </a:r>
            <a:endParaRPr lang="en-US" sz="32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394421"/>
            <a:ext cx="6021694" cy="3594699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68188" y="3845858"/>
            <a:ext cx="4563035" cy="2004365"/>
            <a:chOff x="1308847" y="3765176"/>
            <a:chExt cx="4563035" cy="2004365"/>
          </a:xfrm>
        </p:grpSpPr>
        <p:sp>
          <p:nvSpPr>
            <p:cNvPr id="10" name="Rectangle 9"/>
            <p:cNvSpPr/>
            <p:nvPr/>
          </p:nvSpPr>
          <p:spPr>
            <a:xfrm>
              <a:off x="1308847" y="3765176"/>
              <a:ext cx="4563035" cy="200436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522404" y="3875839"/>
              <a:ext cx="4257447" cy="18125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1D Poisson equation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82176" y="1963217"/>
            <a:ext cx="6238037" cy="293156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40593" y="5702967"/>
            <a:ext cx="7263528" cy="400110"/>
          </a:xfrm>
          <a:prstGeom prst="rect">
            <a:avLst/>
          </a:prstGeom>
          <a:noFill/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2000" spc="50" dirty="0">
                <a:ln w="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tx2">
                      <a:lumMod val="20000"/>
                      <a:lumOff val="80000"/>
                      <a:alpha val="40000"/>
                    </a:schemeClr>
                  </a:glow>
                </a:effectLst>
                <a:highlight>
                  <a:srgbClr val="FFFF00"/>
                </a:highlight>
                <a:latin typeface="Trebuchet MS" panose="020B0603020202020204" pitchFamily="34" charset="0"/>
              </a:rPr>
              <a:t>Goal is to obtain an approximate solution using PINNs</a:t>
            </a:r>
            <a:endParaRPr lang="en-US" sz="2000" spc="50" dirty="0">
              <a:ln w="0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tx2">
                    <a:lumMod val="20000"/>
                    <a:lumOff val="80000"/>
                    <a:alpha val="40000"/>
                  </a:schemeClr>
                </a:glow>
              </a:effectLst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Diffusion Equation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00884" y="1576425"/>
            <a:ext cx="6922008" cy="370514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368585" y="6079381"/>
            <a:ext cx="7263528" cy="400110"/>
          </a:xfrm>
          <a:prstGeom prst="rect">
            <a:avLst/>
          </a:prstGeom>
          <a:noFill/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2000" spc="50" dirty="0">
                <a:ln w="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tx2">
                      <a:lumMod val="20000"/>
                      <a:lumOff val="80000"/>
                      <a:alpha val="40000"/>
                    </a:schemeClr>
                  </a:glow>
                </a:effectLst>
                <a:highlight>
                  <a:srgbClr val="FFFF00"/>
                </a:highlight>
                <a:latin typeface="Trebuchet MS" panose="020B0603020202020204" pitchFamily="34" charset="0"/>
              </a:rPr>
              <a:t>Goal is to obtain an approximate solution using PINNs</a:t>
            </a:r>
            <a:endParaRPr lang="en-US" sz="2000" spc="50" dirty="0">
              <a:ln w="0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tx2">
                    <a:lumMod val="20000"/>
                    <a:lumOff val="80000"/>
                    <a:alpha val="40000"/>
                  </a:schemeClr>
                </a:glow>
              </a:effectLst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9" y="220206"/>
            <a:ext cx="11084560" cy="656590"/>
          </a:xfrm>
        </p:spPr>
        <p:txBody>
          <a:bodyPr/>
          <a:lstStyle/>
          <a:p>
            <a:r>
              <a:rPr lang="en-US" dirty="0"/>
              <a:t>Demo 3: Poisson equation in L-shaped domain</a:t>
            </a:r>
          </a:p>
        </p:txBody>
      </p:sp>
      <p:pic>
        <p:nvPicPr>
          <p:cNvPr id="8" name="Picture 7" descr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begin{itemize}&#10; \item Governing Equation&#10; \[&#10; -\frac{\partial^2 u}{\partial x^2} - \frac{\partial^2 u}{\partial y^2} = 1 &#10; \]&#10; \vspace{45mm}&#10;&#10; \item Dirichlet boundary conditions are,&#10;     \[&#10;     u(x,y) = 0 &#10;     \]&#10; where $(x,y) \in \Gamma$&#10; \end{itemize}&#10;&#10;\end{document}&#10;&#10;&#10;&#10;&#10;&#10;&#10;&#10;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72632" y="1207659"/>
            <a:ext cx="4966287" cy="4358848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136435" y="2789645"/>
            <a:ext cx="1286284" cy="1278710"/>
            <a:chOff x="5939248" y="3407695"/>
            <a:chExt cx="1492214" cy="1492212"/>
          </a:xfrm>
        </p:grpSpPr>
        <p:sp>
          <p:nvSpPr>
            <p:cNvPr id="9" name="Rectangle 8"/>
            <p:cNvSpPr/>
            <p:nvPr/>
          </p:nvSpPr>
          <p:spPr>
            <a:xfrm>
              <a:off x="5939248" y="3407695"/>
              <a:ext cx="746107" cy="7461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39249" y="4153801"/>
              <a:ext cx="746106" cy="7461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685356" y="4153801"/>
              <a:ext cx="746106" cy="7461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48012" y="2579994"/>
            <a:ext cx="487640" cy="174127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779577" y="2593752"/>
            <a:ext cx="353118" cy="17412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779577" y="3256990"/>
            <a:ext cx="353118" cy="1741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422718" y="3256990"/>
            <a:ext cx="353118" cy="17412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422718" y="4090121"/>
            <a:ext cx="487640" cy="17412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511472" y="4090110"/>
            <a:ext cx="624964" cy="17412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2206593" y="6159986"/>
            <a:ext cx="7263528" cy="400110"/>
          </a:xfrm>
          <a:prstGeom prst="rect">
            <a:avLst/>
          </a:prstGeom>
          <a:noFill/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2000" spc="50" dirty="0">
                <a:ln w="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tx2">
                      <a:lumMod val="20000"/>
                      <a:lumOff val="80000"/>
                      <a:alpha val="40000"/>
                    </a:schemeClr>
                  </a:glow>
                </a:effectLst>
                <a:highlight>
                  <a:srgbClr val="FFFF00"/>
                </a:highlight>
                <a:latin typeface="Trebuchet MS" panose="020B0603020202020204" pitchFamily="34" charset="0"/>
              </a:rPr>
              <a:t>Goal is to obtain an approximate solution using PINNs</a:t>
            </a:r>
            <a:endParaRPr lang="en-US" sz="2000" spc="50" dirty="0">
              <a:ln w="0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tx2">
                    <a:lumMod val="20000"/>
                    <a:lumOff val="80000"/>
                    <a:alpha val="40000"/>
                  </a:schemeClr>
                </a:glow>
              </a:effectLst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37434" y="1070267"/>
            <a:ext cx="6092749" cy="1918209"/>
          </a:xfrm>
          <a:prstGeom prst="rect">
            <a:avLst/>
          </a:prstGeom>
        </p:spPr>
      </p:pic>
      <p:sp>
        <p:nvSpPr>
          <p:cNvPr id="169" name="Title 1"/>
          <p:cNvSpPr>
            <a:spLocks noGrp="1"/>
          </p:cNvSpPr>
          <p:nvPr>
            <p:ph type="title"/>
          </p:nvPr>
        </p:nvSpPr>
        <p:spPr>
          <a:xfrm>
            <a:off x="218602" y="218435"/>
            <a:ext cx="11754795" cy="455530"/>
          </a:xfrm>
        </p:spPr>
        <p:txBody>
          <a:bodyPr>
            <a:normAutofit fontScale="90000"/>
          </a:bodyPr>
          <a:lstStyle/>
          <a:p>
            <a:r>
              <a:rPr lang="en-US" dirty="0"/>
              <a:t>Demo 4: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Inverse problem</a:t>
            </a:r>
          </a:p>
        </p:txBody>
      </p:sp>
      <p:grpSp>
        <p:nvGrpSpPr>
          <p:cNvPr id="171" name="Group 170"/>
          <p:cNvGrpSpPr/>
          <p:nvPr/>
        </p:nvGrpSpPr>
        <p:grpSpPr>
          <a:xfrm>
            <a:off x="1374021" y="3743838"/>
            <a:ext cx="4552344" cy="2841338"/>
            <a:chOff x="2019480" y="3062032"/>
            <a:chExt cx="4552344" cy="2841338"/>
          </a:xfrm>
        </p:grpSpPr>
        <p:grpSp>
          <p:nvGrpSpPr>
            <p:cNvPr id="172" name="Group 171"/>
            <p:cNvGrpSpPr/>
            <p:nvPr/>
          </p:nvGrpSpPr>
          <p:grpSpPr>
            <a:xfrm>
              <a:off x="2019480" y="3062032"/>
              <a:ext cx="4552344" cy="2841338"/>
              <a:chOff x="2051753" y="3212641"/>
              <a:chExt cx="4552344" cy="2841338"/>
            </a:xfrm>
          </p:grpSpPr>
          <p:grpSp>
            <p:nvGrpSpPr>
              <p:cNvPr id="189" name="Group 188"/>
              <p:cNvGrpSpPr/>
              <p:nvPr/>
            </p:nvGrpSpPr>
            <p:grpSpPr>
              <a:xfrm>
                <a:off x="2643809" y="3259567"/>
                <a:ext cx="3767749" cy="2516733"/>
                <a:chOff x="2236304" y="3174291"/>
                <a:chExt cx="3767749" cy="2516733"/>
              </a:xfrm>
            </p:grpSpPr>
            <p:sp>
              <p:nvSpPr>
                <p:cNvPr id="196" name="Rectangle 195"/>
                <p:cNvSpPr/>
                <p:nvPr/>
              </p:nvSpPr>
              <p:spPr>
                <a:xfrm>
                  <a:off x="2236304" y="3804453"/>
                  <a:ext cx="3021496" cy="1885492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97" name="Straight Arrow Connector 196"/>
                <p:cNvCxnSpPr/>
                <p:nvPr/>
              </p:nvCxnSpPr>
              <p:spPr>
                <a:xfrm flipV="1">
                  <a:off x="2236304" y="3174291"/>
                  <a:ext cx="0" cy="630162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198" name="Straight Arrow Connector 197"/>
                <p:cNvCxnSpPr/>
                <p:nvPr/>
              </p:nvCxnSpPr>
              <p:spPr>
                <a:xfrm flipV="1">
                  <a:off x="5257800" y="5689945"/>
                  <a:ext cx="746253" cy="1079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</p:grpSp>
          <p:pic>
            <p:nvPicPr>
              <p:cNvPr id="190" name="Picture 189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24"/>
              <a:stretch>
                <a:fillRect/>
              </a:stretch>
            </p:blipFill>
            <p:spPr>
              <a:xfrm>
                <a:off x="6501684" y="5840344"/>
                <a:ext cx="102413" cy="91034"/>
              </a:xfrm>
              <a:prstGeom prst="rect">
                <a:avLst/>
              </a:prstGeom>
            </p:spPr>
          </p:pic>
          <p:pic>
            <p:nvPicPr>
              <p:cNvPr id="191" name="Picture 190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5"/>
              <a:stretch>
                <a:fillRect/>
              </a:stretch>
            </p:blipFill>
            <p:spPr>
              <a:xfrm>
                <a:off x="2404579" y="3212641"/>
                <a:ext cx="63399" cy="130049"/>
              </a:xfrm>
              <a:prstGeom prst="rect">
                <a:avLst/>
              </a:prstGeom>
            </p:spPr>
          </p:pic>
          <p:pic>
            <p:nvPicPr>
              <p:cNvPr id="192" name="Picture 191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26"/>
              <a:stretch>
                <a:fillRect/>
              </a:stretch>
            </p:blipFill>
            <p:spPr>
              <a:xfrm>
                <a:off x="2051753" y="5796961"/>
                <a:ext cx="494995" cy="177800"/>
              </a:xfrm>
              <a:prstGeom prst="rect">
                <a:avLst/>
              </a:prstGeom>
            </p:spPr>
          </p:pic>
          <p:pic>
            <p:nvPicPr>
              <p:cNvPr id="193" name="Picture 192"/>
              <p:cNvPicPr>
                <a:picLocks noChangeAspect="1"/>
              </p:cNvPicPr>
              <p:nvPr>
                <p:custDataLst>
                  <p:tags r:id="rId19"/>
                </p:custDataLst>
              </p:nvPr>
            </p:nvPicPr>
            <p:blipFill>
              <a:blip r:embed="rId27"/>
              <a:stretch>
                <a:fillRect/>
              </a:stretch>
            </p:blipFill>
            <p:spPr>
              <a:xfrm>
                <a:off x="2051755" y="3800829"/>
                <a:ext cx="494995" cy="177800"/>
              </a:xfrm>
              <a:prstGeom prst="rect">
                <a:avLst/>
              </a:prstGeom>
            </p:spPr>
          </p:pic>
          <p:pic>
            <p:nvPicPr>
              <p:cNvPr id="194" name="Picture 193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28"/>
              <a:stretch>
                <a:fillRect/>
              </a:stretch>
            </p:blipFill>
            <p:spPr>
              <a:xfrm>
                <a:off x="5751350" y="3711929"/>
                <a:ext cx="358445" cy="177800"/>
              </a:xfrm>
              <a:prstGeom prst="rect">
                <a:avLst/>
              </a:prstGeom>
            </p:spPr>
          </p:pic>
          <p:pic>
            <p:nvPicPr>
              <p:cNvPr id="195" name="Picture 194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28"/>
              <a:stretch>
                <a:fillRect/>
              </a:stretch>
            </p:blipFill>
            <p:spPr>
              <a:xfrm>
                <a:off x="5751350" y="5876179"/>
                <a:ext cx="358445" cy="177800"/>
              </a:xfrm>
              <a:prstGeom prst="rect">
                <a:avLst/>
              </a:prstGeom>
            </p:spPr>
          </p:pic>
        </p:grpSp>
        <p:grpSp>
          <p:nvGrpSpPr>
            <p:cNvPr id="173" name="Group 172"/>
            <p:cNvGrpSpPr/>
            <p:nvPr/>
          </p:nvGrpSpPr>
          <p:grpSpPr>
            <a:xfrm>
              <a:off x="2611536" y="3681385"/>
              <a:ext cx="3020717" cy="1964967"/>
              <a:chOff x="2611536" y="3681385"/>
              <a:chExt cx="3020717" cy="1964967"/>
            </a:xfrm>
          </p:grpSpPr>
          <p:pic>
            <p:nvPicPr>
              <p:cNvPr id="174" name="Picture 173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2747395" y="3683177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75" name="Picture 174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2975101" y="3684965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76" name="Picture 17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3211766" y="3684969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77" name="Picture 176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3424538" y="3681385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78" name="Picture 177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3652244" y="3683173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79" name="Picture 178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3888909" y="3683177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0" name="Picture 179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4129268" y="3681385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1" name="Picture 180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4356974" y="3683173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2" name="Picture 181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4593639" y="3683177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3" name="Picture 182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4834414" y="3681385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4" name="Picture 183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5062120" y="3683173"/>
                <a:ext cx="93472" cy="109728"/>
              </a:xfrm>
              <a:prstGeom prst="rect">
                <a:avLst/>
              </a:prstGeom>
            </p:spPr>
          </p:pic>
          <p:pic>
            <p:nvPicPr>
              <p:cNvPr id="185" name="Picture 184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29"/>
              <a:stretch>
                <a:fillRect/>
              </a:stretch>
            </p:blipFill>
            <p:spPr>
              <a:xfrm>
                <a:off x="5298785" y="3683177"/>
                <a:ext cx="93472" cy="109728"/>
              </a:xfrm>
              <a:prstGeom prst="rect">
                <a:avLst/>
              </a:prstGeom>
            </p:spPr>
          </p:pic>
          <p:cxnSp>
            <p:nvCxnSpPr>
              <p:cNvPr id="186" name="Straight Connector 185"/>
              <p:cNvCxnSpPr/>
              <p:nvPr/>
            </p:nvCxnSpPr>
            <p:spPr>
              <a:xfrm>
                <a:off x="2611536" y="3739120"/>
                <a:ext cx="0" cy="1885492"/>
              </a:xfrm>
              <a:prstGeom prst="line">
                <a:avLst/>
              </a:prstGeom>
              <a:noFill/>
              <a:ln w="38100" cap="flat" cmpd="sng" algn="ctr">
                <a:solidFill>
                  <a:srgbClr val="00B0F0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187" name="Straight Connector 186"/>
              <p:cNvCxnSpPr/>
              <p:nvPr/>
            </p:nvCxnSpPr>
            <p:spPr>
              <a:xfrm>
                <a:off x="5632253" y="3760860"/>
                <a:ext cx="0" cy="1885492"/>
              </a:xfrm>
              <a:prstGeom prst="line">
                <a:avLst/>
              </a:prstGeom>
              <a:noFill/>
              <a:ln w="38100" cap="flat" cmpd="sng" algn="ctr">
                <a:solidFill>
                  <a:srgbClr val="00B0F0"/>
                </a:solidFill>
                <a:prstDash val="dash"/>
                <a:miter lim="800000"/>
              </a:ln>
              <a:effectLst/>
            </p:spPr>
          </p:cxnSp>
          <p:cxnSp>
            <p:nvCxnSpPr>
              <p:cNvPr id="188" name="Straight Connector 187"/>
              <p:cNvCxnSpPr/>
              <p:nvPr/>
            </p:nvCxnSpPr>
            <p:spPr>
              <a:xfrm flipV="1">
                <a:off x="2611536" y="5613854"/>
                <a:ext cx="3020717" cy="21740"/>
              </a:xfrm>
              <a:prstGeom prst="line">
                <a:avLst/>
              </a:prstGeom>
              <a:noFill/>
              <a:ln w="38100" cap="flat" cmpd="sng" algn="ctr">
                <a:solidFill>
                  <a:srgbClr val="00B050"/>
                </a:solidFill>
                <a:prstDash val="dash"/>
                <a:miter lim="800000"/>
              </a:ln>
              <a:effectLst/>
            </p:spPr>
          </p:cxnSp>
        </p:grpSp>
      </p:grpSp>
      <p:cxnSp>
        <p:nvCxnSpPr>
          <p:cNvPr id="199" name="Straight Connector 198"/>
          <p:cNvCxnSpPr/>
          <p:nvPr/>
        </p:nvCxnSpPr>
        <p:spPr>
          <a:xfrm>
            <a:off x="821645" y="2235797"/>
            <a:ext cx="254237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dash"/>
            <a:miter lim="800000"/>
          </a:ln>
          <a:effectLst/>
        </p:spPr>
      </p:cxnSp>
      <p:cxnSp>
        <p:nvCxnSpPr>
          <p:cNvPr id="200" name="Straight Connector 199"/>
          <p:cNvCxnSpPr/>
          <p:nvPr/>
        </p:nvCxnSpPr>
        <p:spPr>
          <a:xfrm>
            <a:off x="834196" y="2571082"/>
            <a:ext cx="254237" cy="0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dash"/>
            <a:miter lim="800000"/>
          </a:ln>
          <a:effectLst/>
        </p:spPr>
      </p:cxnSp>
      <p:pic>
        <p:nvPicPr>
          <p:cNvPr id="201" name="Picture 20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204429" y="4808815"/>
            <a:ext cx="3223566" cy="568960"/>
          </a:xfrm>
          <a:prstGeom prst="rect">
            <a:avLst/>
          </a:prstGeom>
        </p:spPr>
      </p:pic>
      <p:sp>
        <p:nvSpPr>
          <p:cNvPr id="202" name="Rectangle 201"/>
          <p:cNvSpPr/>
          <p:nvPr/>
        </p:nvSpPr>
        <p:spPr>
          <a:xfrm>
            <a:off x="3505325" y="1498593"/>
            <a:ext cx="218843" cy="30121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7658001" y="5159274"/>
            <a:ext cx="218843" cy="30121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6863379" y="4672893"/>
            <a:ext cx="4141694" cy="1011219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51920" y="5787828"/>
            <a:ext cx="4528583" cy="923330"/>
          </a:xfrm>
          <a:prstGeom prst="rect">
            <a:avLst/>
          </a:prstGeom>
          <a:noFill/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pc="50" dirty="0">
                <a:ln w="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tx2">
                      <a:lumMod val="20000"/>
                      <a:lumOff val="80000"/>
                      <a:alpha val="40000"/>
                    </a:schemeClr>
                  </a:glow>
                </a:effectLst>
                <a:highlight>
                  <a:srgbClr val="FFFF00"/>
                </a:highlight>
                <a:latin typeface="Trebuchet MS" panose="020B0603020202020204" pitchFamily="34" charset="0"/>
              </a:rPr>
              <a:t>Goal is to infer the parameter C and simultaneously obtain solution for U given data   </a:t>
            </a:r>
            <a:r>
              <a:rPr lang="en-US" spc="50" dirty="0">
                <a:ln w="0" cmpd="sng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glow rad="228600">
                    <a:schemeClr val="tx2">
                      <a:lumMod val="20000"/>
                      <a:lumOff val="80000"/>
                      <a:alpha val="40000"/>
                    </a:schemeClr>
                  </a:glow>
                </a:effectLst>
                <a:latin typeface="Trebuchet MS" panose="020B0603020202020204" pitchFamily="34" charset="0"/>
              </a:rPr>
              <a:t> </a:t>
            </a:r>
            <a:endParaRPr lang="en-US" spc="50" dirty="0">
              <a:ln w="0" cmpd="sng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glow rad="228600">
                  <a:schemeClr val="tx2">
                    <a:lumMod val="20000"/>
                    <a:lumOff val="80000"/>
                    <a:alpha val="40000"/>
                  </a:schemeClr>
                </a:glow>
              </a:effectLst>
            </a:endParaRPr>
          </a:p>
        </p:txBody>
      </p:sp>
      <p:pic>
        <p:nvPicPr>
          <p:cNvPr id="45" name="Picture 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8186904" y="6475448"/>
            <a:ext cx="93472" cy="109728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8363630" y="6531741"/>
            <a:ext cx="254237" cy="0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dash"/>
            <a:miter lim="800000"/>
          </a:ln>
          <a:effectLst/>
        </p:spPr>
      </p:cxnSp>
      <p:cxnSp>
        <p:nvCxnSpPr>
          <p:cNvPr id="47" name="Straight Connector 46"/>
          <p:cNvCxnSpPr/>
          <p:nvPr/>
        </p:nvCxnSpPr>
        <p:spPr>
          <a:xfrm>
            <a:off x="8617867" y="6530312"/>
            <a:ext cx="254237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dash"/>
            <a:miter lim="800000"/>
          </a:ln>
          <a:effectLst/>
        </p:spPr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10"/>
  <p:tag name="ORIGINALWIDTH" val="3705"/>
  <p:tag name="LATEXADDIN" val="\documentclass{article}&#10;\usepackage{amsmath}&#10;\usepackage{amssymb}&#10;\usepackage[a4paper, total={6in, 8in}]{geometry}&#10;\pagestyle{empty}&#10;\begin{document}&#10;&#10;\begin{itemize}&#10;\item Physics-Informed Neural Network (PINN)&#10;\begin{itemize}&#10;    \item solving forward/inverse ODEs/PDEs&#10;    \item solving forward/inverse integro-differential equations (IDEs)&#10;    \item fPINN: solving forward/inverse fractional PDEs (fPDEs)&#10;\end{itemize} \vspace{1em}&#10;\item Deep Operator Network (DeepONet)&#10;\begin{itemize}&#10;    \item learning operators&#10;    \item MIONet: learning multiple-input operators&#10;    \item DeepM\&amp;Mnet: solving multiphysics and multiscale problems&#10;\end{itemize} \vspace{1em}&#10;\item Multifidelity Neural Network (MFNN)&#10;\begin{itemize}&#10;    \item learning from multifidelity data&#10;\end{itemize}&#10;\end{itemize}&#10;&#10;&#10;&#10;\end{document}"/>
  <p:tag name="IGUANATEXSIZE" val="16"/>
  <p:tag name="IGUANATEXCURSOR" val="695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06"/>
  <p:tag name="ORIGINALWIDTH" val="5301"/>
  <p:tag name="LATEXADDIN" val="\documentclass{article}&#10;\usepackage{amsmath}&#10;\usepackage{amssymb}&#10;\usepackage[a4paper, total={6in, 8in}]{geometry}&#10;\pagestyle{empty}&#10;\begin{document}&#10;&#10;\begin{enumerate}&#10;\item Specify the computational domain using the \textbf{\texttt{geometry}} module.&#10;\item Specify the PDE.&#10;\item Specify the ICs and BCs.&#10;\item Combine the geometry, PDE and ICs/BCs into \textbf{\texttt{data.PDE}} or \textbf{\texttt{data.TimePDE}} for time-independent or time-dependent problems.&#10;\item Construct a neural network using the \textbf{\texttt{nn}} module.&#10;\item Define a \textbf{\texttt{Model}} by combining the PDE problem in Step 4 and the neural net in Step 5.&#10;\item Call \textbf{\texttt{Model.compile}} to set the optimization hyperparameters, such as optimizer and learning rate.&#10;\item Call \textbf{\texttt{Model.train}} to train the network from random initialization or a pre-trained model.&#10;\item Call \textbf{\texttt{Model.predict}} to predict the PDE solution at any location.&#10;\end{enumerate}&#10;&#10;&#10;&#10;\end{document}"/>
  <p:tag name="IGUANATEXSIZE" val="16"/>
  <p:tag name="IGUANATEXCURSOR" val="9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3"/>
  <p:tag name="ORIGINALWIDTH" val="3977"/>
  <p:tag name="LATEXADDIN" val="\documentclass{article}&#10;\usepackage{amsmath}&#10;\usepackage{amssymb}&#10;\usepackage[a4paper, total={6in, 8in}]{geometry}&#10;\pagestyle{empty}&#10;\begin{document}&#10;&#10;\begin{itemize}&#10;    \item Primitive geometries&#10;    \begin{itemize}&#10;        \item \textbf{\texttt{interval}}, \textbf{\texttt{triangle}}, \textbf{\texttt{rectangle}}, \textbf{\texttt{polygon}}, \textbf{\texttt{disk}}, \textbf{\texttt{cuboid}}, \textbf{\texttt{sphere}}&#10;    \end{itemize}&#10;    \item boolean operations:&#10;    \begin{itemize}&#10;        \item Union $A|B$&#10;        \item difference $A-B$&#10;        \item intersection $A\&amp; B$&#10;    \end{itemize}&#10;\end{itemize}&#10;&#10;&#10;\end{document}"/>
  <p:tag name="IGUANATEXSIZE" val="16"/>
  <p:tag name="IGUANATEXCURSOR" val="610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5"/>
  <p:tag name="ORIGINALWIDTH" val="2619"/>
  <p:tag name="LATEXADDIN" val="\documentclass{article}&#10;\usepackage{amsmath}&#10;\usepackage{amssymb}&#10;\usepackage[a4paper, total={6in, 8in}]{geometry}&#10;\pagestyle{empty}&#10;\begin{document}&#10;\begin{itemize}&#10;\item $geom1$ $=$ $dde.geometry.Rectangle([0,0 ], [2, 1])$&#10;\item $geom2$ $=$ $dde.geometry.Disk([2, 0.5], 0.5)$&#10;\item $geom\_union$ $=$ $geom1$ $|$ $geom2$&#10;\item $geom\_diff$ $=$ $geom1$ $-$ $geom2$&#10;\item $geom\_inter$ $=$ $geom1$ $\&amp;$ $geom2$&#10;\end{itemize}&#10;&#10;\end{document}"/>
  <p:tag name="IGUANATEXSIZE" val="16"/>
  <p:tag name="IGUANATEXCURSOR" val="409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3"/>
  <p:tag name="ORIGINALWIDTH" val="3411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begin{itemize}&#10; \item Governing Equation&#10; \[&#10; -\frac{d^2 u}{dx^2} = \pi^2 \sin(\pi x),&#10; \]&#10; where $x \in [-1,1]$.&#10; &#10; \item Dirichlet boundary conditions are,&#10; \[&#10; u(x=-1) = u(x=1) = 0.&#10; \]&#10; &#10; \item Exact solution is,&#10; \[&#10; u(x) = \sin(\pi x)&#10; \]&#10; &#10; \end{itemize}&#10;&#10;\end{document}&#10;&#10;&#10;&#10;&#10;&#10;&#10;&#10;"/>
  <p:tag name="IGUANATEXSIZE" val="18"/>
  <p:tag name="IGUANATEXCURSOR" val="1319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26"/>
  <p:tag name="ORIGINALWIDTH" val="3785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begin{itemize}&#10; \item Governing Equation&#10; \[&#10; \frac{du}{dt} = \frac{d^2 u}{dx^2} - \exp^{-t} (\sin(\pi x) - \pi^2 \sin(\pi x))&#10; \]&#10; where $x \in [-1,1]$ and $t \in [0,1]$.&#10; &#10; \item Initial condition is,&#10; \[&#10; u(x,0) = \sin(\pi x).&#10; \]&#10; &#10; \item Dirichlet boundary conditions are,&#10; \[&#10; u(-1,t) = u(1,t) = 0.&#10; \]&#10; &#10; \item Exact solution is,&#10; \[&#10; u(x,t) = \exp^{-t}\sin(\pi x).&#10; \]&#10; &#10; \end{itemize}&#10;&#10;\end{document}&#10;&#10;&#10;&#10;&#10;&#10;&#10;&#10;"/>
  <p:tag name="IGUANATEXSIZE" val="18"/>
  <p:tag name="IGUANATEXCURSOR" val="1451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81.402"/>
  <p:tag name="ORIGINALWIDTH" val="3150.356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1in,&#10;right=1in,&#10;top=1in,&#10;bottom=1in,&#10;footskip=.25in]{geometry}&#10;&#10;\tolerance=1&#10;\emergencystretch=\maxdimen&#10;\hyphenpenalty=10000&#10;\hbadness=10000&#10;&#10;\begin{document}&#10; &#10; \begin{itemize}&#10; \item Governing Equation&#10; \[&#10; -\frac{\partial^2 u}{\partial x^2} - \frac{\partial^2 u}{\partial y^2} = 1 &#10; \]&#10; \vspace{45mm}&#10;&#10; \item Dirichlet boundary conditions are,&#10;     \[&#10;     u(x,y) = 0 &#10;     \]&#10; where $(x,y) \in \Gamma$&#10; \end{itemize}&#10;&#10;\end{document}&#10;&#10;&#10;&#10;&#10;&#10;&#10;&#10;"/>
  <p:tag name="IGUANATEXSIZE" val="18"/>
  <p:tag name="IGUANATEXCURSOR" val="1159"/>
  <p:tag name="TRANSPARENCY" val="True"/>
  <p:tag name="LATEXENGINEID" val="0"/>
  <p:tag name="TEMPFOLDER" val="C:\Users\lu\.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348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-1,1) \]&#10;&#10;&#10;\end{document}&#10;&#10;&#10;&#10;&#10;&#10;&#10;&#10;"/>
  <p:tag name="IGUANATEXSIZE" val="16"/>
  <p:tag name="IGUANATEXCURSOR" val="1043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252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0,1) \]&#10;&#10;&#10;\end{document}&#10;&#10;&#10;&#10;&#10;&#10;&#10;&#10;"/>
  <p:tag name="IGUANATEXSIZE" val="16"/>
  <p:tag name="IGUANATEXCURSOR" val="1042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252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0,0) \]&#10;&#10;&#10;\end{document}&#10;&#10;&#10;&#10;&#10;&#10;&#10;&#10;"/>
  <p:tag name="IGUANATEXSIZE" val="16"/>
  <p:tag name="IGUANATEXCURSOR" val="1042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252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1,0) \]&#10;&#10;&#10;\end{document}&#10;&#10;&#10;&#10;&#10;&#10;&#10;&#10;"/>
  <p:tag name="IGUANATEXSIZE" val="16"/>
  <p:tag name="IGUANATEXCURSOR" val="1042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348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1,-1) \]&#10;&#10;&#10;\end{document}&#10;&#10;&#10;&#10;&#10;&#10;&#10;&#10;"/>
  <p:tag name="IGUANATEXSIZE" val="16"/>
  <p:tag name="IGUANATEXCURSOR" val="1043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446"/>
  <p:tag name="LATEXADDIN" val="\documentclass{article}&#10;\pagestyle{empty}&#10;\usepackage{amsmath, amsfonts,color, bm}&#10;\definecolor{red}{rgb}{1,0,0} \def\red{\textcolor{red}}&#10;\definecolor{blue}{rgb}{0,0,1} \def\blue{\textcolor{blue}}&#10;\definecolor{forestgreen}{rgb}{0, 0.5,0.5} \def\forestgreen{\textcolor{forestgreen}}&#10;\definecolor{magenta}{rgb}{1,0,1} \def\magenta{\textcolor{magenta}}&#10;\definecolor{firebrick}{rgb}{0.698039,0.133333,0.133333} \def\firebrick{\textcolor{firebrick}}&#10;\definecolor{darkgreen}{rgb}{0,0.392157,0} \def\darkgreen{\textcolor{darkgreen}}&#10;\definecolor{green}{rgb}{0,1,0} \def\green{\textcolor{green}}&#10;\definecolor{purple}{rgb}{0.5,0,0.5} \def\purple{\textcolor{purple}}&#10;\definecolor{darkcyan}{rgb}{0,0.545098 ,0.545098} \def\darkcyan{\textcolor{darkcyan}}&#10;\definecolor{goldenrod}{rgb}{0.5,0.5,0} \def\goldenrod{\textcolor{goldenrod}}&#10;&#10;\usepackage[a4paper,&#10;bindingoffset=0.2in,&#10;left=0.25in,&#10;right=1in,&#10;top=1in,&#10;bottom=1in,&#10;footskip=.25in]{geometry}&#10;&#10;\tolerance=1&#10;\emergencystretch=\maxdimen&#10;\hyphenpenalty=10000&#10;\hbadness=10000&#10;&#10;\begin{document}&#10;&#10;&#10;\[ (-1,-1) \]&#10;&#10;&#10;\end{document}&#10;&#10;&#10;&#10;&#10;&#10;&#10;&#10;"/>
  <p:tag name="IGUANATEXSIZE" val="16"/>
  <p:tag name="IGUANATEXCURSOR" val="1044"/>
  <p:tag name="TRANSPARENCY" val="True"/>
  <p:tag name="LATEXENGINEID" val="0"/>
  <p:tag name="TEMPFOLDER" val="/private/var/folders/l6/c71cysms70502lf8y911rpkw0000gp/T/com.microsoft.Powerpoint/TemporaryItems/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0"/>
  <p:tag name="ORIGINALWIDTH" val="3748"/>
  <p:tag name="LATEXADDIN" val="\documentclass{article}&#10;\usepackage{amsmath}&#10;\usepackage{amssymb}&#10;\usepackage[a4paper, total={6in, 8in}]{geometry}&#10;\pagestyle{empty}&#10;\begin{document}&#10;&#10;\begin{itemize}&#10;\item Governing diffusion equation&#10;$$\frac{\partial u}{\partial t} = \mathbf{C} \frac{\partial^{2} u}{\partial x^{2}}- e^{-t}(\sin(\pi x)-\pi^{2}\sin(\pi x))$$&#10;\begin{itemize}&#10;\item where $x$ $\in$ $[-1,1]$, $t$ $\in$ $[0,1]$&#10;\item Initial condition:  $u(x,0) = \sin(\pi x)$&#10;\item Dirichlet boundary condition: $u(-1,t) = u(1,t) = 0$&#10;\end{itemize}&#10;\end{itemize}&#10;&#10;&#10;\end{document}"/>
  <p:tag name="IGUANATEXSIZE" val="16"/>
  <p:tag name="IGUANATEXCURSOR" val="514"/>
  <p:tag name="TRANSPARENCY" val="True"/>
  <p:tag name="LATEXENGINEID" val="0"/>
  <p:tag name="TEMPFOLDER" val="/private/var/folders/fk/ct6y6fqd6kl_b95p4tls726c0000gq/T/com.microsoft.Powerpoint/TemporaryItems/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0"/>
  <p:tag name="ORIGINALWIDTH" val="1983"/>
  <p:tag name="LATEXADDIN" val="\documentclass{article}&#10;\usepackage{amsmath}&#10;\usepackage{amssymb}&#10;\usepackage[a4paper, total={6in, 8in}]{geometry}&#10;\pagestyle{empty}&#10;\begin{document}&#10;&#10;\begin{itemize}&#10;\item[] Exact Solution: $u(x,t) = e^{-t}\sin(\pi x)$&#10;\item[] True $\mathbf{C} = 1$&#10;\end{itemize}&#10;&#10;\end{document}"/>
  <p:tag name="IGUANATEXSIZE" val="16"/>
  <p:tag name="IGUANATEXCURSOR" val="226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"/>
  <p:tag name="ORIGINALWIDTH" val="46"/>
  <p:tag name="LATEXADDIN" val="\documentclass{article}&#10;\usepackage{amsmath}&#10;\usepackage{amssymb}&#10;\usepackage{xcolor}&#10;\usepackage[a4paper, total={6in, 8in}]{geometry}&#10;\pagestyle{empty}&#10;\begin{document}&#10;&#10;{\color{red} *}&#10;&#10;&#10;\end{document}"/>
  <p:tag name="IGUANATEXSIZE" val="20"/>
  <p:tag name="IGUANATEXCURSOR" val="84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"/>
  <p:tag name="ORIGINALWIDTH" val="63"/>
  <p:tag name="LATEXADDIN" val="\documentclass{article}&#10;\usepackage{amsmath}&#10;\usepackage{amssymb}&#10;\usepackage[a4paper, total={6in, 8in}]{geometry}&#10;\pagestyle{empty}&#10;\begin{document}&#10;&#10;$x$&#10;&#10;&#10;\end{document}"/>
  <p:tag name="IGUANATEXSIZE" val="16"/>
  <p:tag name="IGUANATEXCURSOR" val="153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"/>
  <p:tag name="ORIGINALWIDTH" val="39"/>
  <p:tag name="LATEXADDIN" val="\documentclass{article}&#10;\usepackage{amsmath}&#10;\usepackage{amssymb}&#10;\usepackage[a4paper, total={6in, 8in}]{geometry}&#10;\pagestyle{empty}&#10;\begin{document}&#10;&#10;$t$&#10;&#10;&#10;\end{document}"/>
  <p:tag name="IGUANATEXSIZE" val="16"/>
  <p:tag name="IGUANATEXCURSOR" val="153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348"/>
  <p:tag name="LATEXADDIN" val="\documentclass{article}&#10;\usepackage{amsmath}&#10;\usepackage{amssymb}&#10;\usepackage[a4paper, total={6in, 8in}]{geometry}&#10;\pagestyle{empty}&#10;\begin{document}&#10;&#10;$(-1,0)$&#10;&#10;&#10;\end{document}"/>
  <p:tag name="IGUANATEXSIZE" val="14"/>
  <p:tag name="IGUANATEXCURSOR" val="157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348"/>
  <p:tag name="LATEXADDIN" val="\documentclass{article}&#10;\usepackage{amsmath}&#10;\usepackage{amssymb}&#10;\usepackage[a4paper, total={6in, 8in}]{geometry}&#10;\pagestyle{empty}&#10;\begin{document}&#10;&#10;$(-1,1)$&#10;&#10;&#10;\end{document}"/>
  <p:tag name="IGUANATEXSIZE" val="14"/>
  <p:tag name="IGUANATEXCURSOR" val="157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252"/>
  <p:tag name="LATEXADDIN" val="\documentclass{article}&#10;\usepackage{amsmath}&#10;\usepackage{amssymb}&#10;\usepackage[a4paper, total={6in, 8in}]{geometry}&#10;\pagestyle{empty}&#10;\begin{document}&#10;&#10;$(1,1)$&#10;&#10;&#10;\end{document}"/>
  <p:tag name="IGUANATEXSIZE" val="14"/>
  <p:tag name="IGUANATEXCURSOR" val="153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"/>
  <p:tag name="ORIGINALWIDTH" val="252"/>
  <p:tag name="LATEXADDIN" val="\documentclass{article}&#10;\usepackage{amsmath}&#10;\usepackage{amssymb}&#10;\usepackage[a4paper, total={6in, 8in}]{geometry}&#10;\pagestyle{empty}&#10;\begin{document}&#10;&#10;$(1,1)$&#10;&#10;&#10;\end{document}"/>
  <p:tag name="IGUANATEXSIZE" val="14"/>
  <p:tag name="IGUANATEXCURSOR" val="153"/>
  <p:tag name="TRANSPARENCY" val="True"/>
  <p:tag name="LATEXENGINEID" val="0"/>
  <p:tag name="TEMPFOLDER" val="/private/var/folders/0f/pks900g16vvdnlvt7dfsztp80000gp/T/com.microsoft.Powerpoint/TemporaryItems/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600" dirty="0" err="1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600" dirty="0" err="1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271</Words>
  <Application>Microsoft Office PowerPoint</Application>
  <PresentationFormat>Widescreen</PresentationFormat>
  <Paragraphs>50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Title &amp; Bullet</vt:lpstr>
      <vt:lpstr>1_Title &amp; Bullet</vt:lpstr>
      <vt:lpstr>DeepXDE: A deep learning library for solving differential equations</vt:lpstr>
      <vt:lpstr>PowerPoint Presentation</vt:lpstr>
      <vt:lpstr>PowerPoint Presentation</vt:lpstr>
      <vt:lpstr>PowerPoint Presentation</vt:lpstr>
      <vt:lpstr>PowerPoint Presentation</vt:lpstr>
      <vt:lpstr>Demo 1: 1D Poisson equation</vt:lpstr>
      <vt:lpstr>Demo 2: Diffusion Equation</vt:lpstr>
      <vt:lpstr>Demo 3: Poisson equation in L-shaped domain</vt:lpstr>
      <vt:lpstr>Demo 4: Inverse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Bora, Aniruddha</dc:creator>
  <cp:lastModifiedBy>Lu, Lu</cp:lastModifiedBy>
  <cp:revision>121</cp:revision>
  <dcterms:created xsi:type="dcterms:W3CDTF">2022-04-07T00:51:00Z</dcterms:created>
  <dcterms:modified xsi:type="dcterms:W3CDTF">2026-03-18T04:08:57Z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BC183A95DE9846C39D26F92FD2DDA931_12</vt:lpwstr>
  </property>
  <property fmtid="{D5CDD505-2E9C-101B-9397-08002B2CF9AE}" pid="3" name="KSOProductBuildVer">
    <vt:lpwstr>1033-12.2.0.23196</vt:lpwstr>
  </property>
</Properties>
</file>